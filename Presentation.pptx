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C8B5-0862-4612-8551-A6739B1BB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FB9DD-9A11-41FD-B35C-24F716646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7954B-0100-4024-B403-5B59E20C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D2BA-07D1-41CE-A25D-963C0A89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C8651-CC68-4A34-8299-DDE44B997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4DA7-9101-412E-B51B-F636A32D4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8644F-B9DF-417C-946C-A0298335C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75BAD-7DBA-49A8-B343-CE2FBF803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D49A8-CB50-4533-88AC-0B2198F87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3008B-8BEA-4E74-873E-5F3ED071F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72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5B563-F7FC-485C-BA0F-E41341814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0AA4B-4789-4FE2-B09E-ABC792B90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D4AB0-A9EA-4935-AFDB-ADDAD9C4B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29456-44A7-4DEB-ACAA-0A1330937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81FD9-EF33-481A-A043-B602B12B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72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E4D0-0347-4D33-9F28-E845A3AEE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5D1D8-F024-4380-94B5-F03259CB8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4548E-4196-4682-9D81-78514AB49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97A61-8475-4195-82C8-DE6D3DB8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5C000-D0F3-41E8-BDCA-00DB5D90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E9BEF-2848-4D68-BBDB-FA15EFB0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DB48-BCAB-433C-9132-47E599CC1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166D7-2B88-44F9-9EB5-540802D55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3CBAD-140E-4DA9-A2B0-8FCF2A578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EAF16-B63E-44FF-97E0-ACBA7D4CF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CF7BCF-CDFA-4F56-BFEB-856C1B7C17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0D2BA9-691D-4104-89A5-9079327F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7E9CC-5631-4B7F-BD24-E26EFA96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762ACD-103C-4849-ABED-4285A31B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0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BA02-297B-41C1-9865-756C28A1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9A8F1B-4D11-4423-8C3E-7348B53CB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AE956-4CE3-445F-8FDF-4906DFA89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395178-D341-40EE-B99A-1ADECBDB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2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671CFA-F47D-4DBB-A255-CBAA045B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20FC17-1F9B-4AF7-8574-4DFF40A96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65BA1-B854-4ABC-8ED2-3B4324A2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4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CAC1-A0F6-41EC-BB77-102CA5E0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9AFB1-9548-4467-9D39-1E734DD15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FCE35-E931-4BF0-81E8-B7185FCCC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A7250-87CB-46D4-9F9D-61C8A7BB2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BBBB2-0B35-493E-B3E2-F8E91402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0A1FD-0284-4FC6-9F61-AD399E7C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3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EE32-A05D-444F-B084-1D99E3F53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B91770-BDC8-4ABE-980A-5150FBDA0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BE3D9-A32E-4465-8A42-B2A57EA53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D0CFA-D779-4B6C-A921-1178C804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C153A-D45C-49C6-9E20-F3E27892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747BC-09EE-4EF5-AC10-B74740855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67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2A4AA-E651-43CF-B583-60156EAE2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B4226-F570-4753-8266-6C1FFF6B4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D71C5-00BC-497A-A4DF-C85E42FC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A6565-8406-4FDE-823C-C9C48BA30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B0096-9964-48F5-823E-E7766B25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2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A5CC8B-0A64-4271-840C-69B84F6CA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169EE-9DD5-45A1-A08F-14CCEC40F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49278-12C3-4D72-A9BF-A25F6959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24664-E7C9-4FFC-9E6F-409C20F48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F4266-B9DE-41CD-BEC1-085CEDDA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33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71552-BA3D-49B9-BD1E-23FD506F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C785F-CC15-42E3-8ED8-D6960071C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3DA41-2FE9-4714-AFAB-9C7FB4B75B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9372C-3012-479D-8365-BDEAA11DD64D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A46CE-E105-4365-A62A-7A0CA2E64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56E62-C56F-4BB7-970F-827235393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DBF8D-3A41-4CF0-AEB5-DB5C8ED17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2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F9093-CD2F-44F4-8461-0276E4780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408" y="1041400"/>
            <a:ext cx="10236592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FF"/>
                </a:solidFill>
              </a:rPr>
              <a:t>ATLIQ HOSPITALITY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F9C8CD-B286-4755-91FE-322EB1AFD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532" y="3429000"/>
            <a:ext cx="9144000" cy="1655762"/>
          </a:xfrm>
        </p:spPr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sz="2800" b="1" dirty="0"/>
              <a:t>Presented By </a:t>
            </a:r>
            <a:r>
              <a:rPr lang="en-US" dirty="0"/>
              <a:t>: </a:t>
            </a:r>
            <a:r>
              <a:rPr lang="en-US" sz="2800" dirty="0"/>
              <a:t>Amit Kumar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4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F09AD-0463-44E9-B7D2-FE87D5A80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8543" y="1"/>
            <a:ext cx="3254913" cy="789098"/>
          </a:xfrm>
        </p:spPr>
        <p:txBody>
          <a:bodyPr>
            <a:normAutofit/>
          </a:bodyPr>
          <a:lstStyle/>
          <a:p>
            <a:r>
              <a:rPr lang="en-US" sz="2800" b="1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214DD-83A9-4375-A674-F09730F23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4265"/>
            <a:ext cx="10515600" cy="2901120"/>
          </a:xfrm>
        </p:spPr>
        <p:txBody>
          <a:bodyPr/>
          <a:lstStyle/>
          <a:p>
            <a:r>
              <a:rPr lang="en-US" dirty="0">
                <a:solidFill>
                  <a:srgbClr val="0066FF"/>
                </a:solidFill>
              </a:rPr>
              <a:t>Objective</a:t>
            </a:r>
          </a:p>
          <a:p>
            <a:r>
              <a:rPr lang="en-US" dirty="0">
                <a:solidFill>
                  <a:srgbClr val="0066FF"/>
                </a:solidFill>
              </a:rPr>
              <a:t>Dashboard</a:t>
            </a:r>
          </a:p>
          <a:p>
            <a:r>
              <a:rPr lang="en-US" dirty="0">
                <a:solidFill>
                  <a:srgbClr val="0066FF"/>
                </a:solidFill>
              </a:rPr>
              <a:t>Analysis</a:t>
            </a:r>
          </a:p>
          <a:p>
            <a:r>
              <a:rPr lang="en-US" dirty="0">
                <a:solidFill>
                  <a:srgbClr val="0066FF"/>
                </a:solidFill>
              </a:rPr>
              <a:t>Conclusion</a:t>
            </a:r>
          </a:p>
          <a:p>
            <a:r>
              <a:rPr lang="en-US" dirty="0">
                <a:solidFill>
                  <a:srgbClr val="0066FF"/>
                </a:solidFill>
              </a:rPr>
              <a:t>Appendix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F0F282-A56B-47FD-98D9-BFDE5975DA82}"/>
              </a:ext>
            </a:extLst>
          </p:cNvPr>
          <p:cNvSpPr txBox="1">
            <a:spLocks/>
          </p:cNvSpPr>
          <p:nvPr/>
        </p:nvSpPr>
        <p:spPr>
          <a:xfrm>
            <a:off x="838200" y="171756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err="1">
                <a:solidFill>
                  <a:srgbClr val="660033"/>
                </a:solidFill>
              </a:rPr>
              <a:t>Atliq</a:t>
            </a:r>
            <a:r>
              <a:rPr lang="en-US" sz="3200" dirty="0">
                <a:solidFill>
                  <a:srgbClr val="660033"/>
                </a:solidFill>
              </a:rPr>
              <a:t> Hospitality Challenge</a:t>
            </a:r>
          </a:p>
        </p:txBody>
      </p:sp>
    </p:spTree>
    <p:extLst>
      <p:ext uri="{BB962C8B-B14F-4D97-AF65-F5344CB8AC3E}">
        <p14:creationId xmlns:p14="http://schemas.microsoft.com/office/powerpoint/2010/main" val="3606752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511A-29DA-426C-976C-FDC30165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66FF"/>
                </a:solidFill>
              </a:rPr>
              <a:t> 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F2AB-A5A6-4777-BE1A-C2A272FE5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Atliq</a:t>
            </a:r>
            <a:r>
              <a:rPr lang="en-US" dirty="0"/>
              <a:t> Grands owns multiple 5-star Hotels across Delhi, Mumbai, Hyderabad &amp; Bangalore</a:t>
            </a:r>
          </a:p>
          <a:p>
            <a:r>
              <a:rPr lang="en-US" dirty="0"/>
              <a:t>The objective is to find relevant insights for </a:t>
            </a:r>
            <a:r>
              <a:rPr lang="en-US" dirty="0" err="1"/>
              <a:t>Atliq</a:t>
            </a:r>
            <a:r>
              <a:rPr lang="en-US" dirty="0"/>
              <a:t> Grands to improve their business from the available data</a:t>
            </a:r>
          </a:p>
        </p:txBody>
      </p:sp>
    </p:spTree>
    <p:extLst>
      <p:ext uri="{BB962C8B-B14F-4D97-AF65-F5344CB8AC3E}">
        <p14:creationId xmlns:p14="http://schemas.microsoft.com/office/powerpoint/2010/main" val="179011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511A-29DA-426C-976C-FDC30165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66FF"/>
                </a:solidFill>
              </a:rPr>
              <a:t> 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385331-7BA2-438D-A226-EB38EC8AC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812" y="1294228"/>
            <a:ext cx="7681521" cy="44829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0084BC-4777-417D-9EBE-32A785B61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16" y="1825625"/>
            <a:ext cx="3593123" cy="4351338"/>
          </a:xfrm>
        </p:spPr>
        <p:txBody>
          <a:bodyPr>
            <a:normAutofit/>
          </a:bodyPr>
          <a:lstStyle/>
          <a:p>
            <a:r>
              <a:rPr lang="en-US" sz="2000" dirty="0" err="1"/>
              <a:t>Atliq</a:t>
            </a:r>
            <a:r>
              <a:rPr lang="en-US" sz="2000" dirty="0"/>
              <a:t> Exotica is the most profitable Property &amp; Mumbai being the most profitable city</a:t>
            </a:r>
          </a:p>
          <a:p>
            <a:r>
              <a:rPr lang="en-US" sz="2000" dirty="0"/>
              <a:t>Hotel rooms are more occupied on weekends but Customer feedback remains almost the same for all days</a:t>
            </a:r>
          </a:p>
        </p:txBody>
      </p:sp>
    </p:spTree>
    <p:extLst>
      <p:ext uri="{BB962C8B-B14F-4D97-AF65-F5344CB8AC3E}">
        <p14:creationId xmlns:p14="http://schemas.microsoft.com/office/powerpoint/2010/main" val="334415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511A-29DA-426C-976C-FDC30165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66FF"/>
                </a:solidFill>
              </a:rPr>
              <a:t>  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21E48D-D522-4935-BD3D-2CAD2023C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757" y="890233"/>
            <a:ext cx="5382376" cy="5077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5F3783-038D-4F55-9301-4CC98A4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Average Rating &amp; Occupancy are independent of - Room category, Class &amp; Booking Platform, but it is dependent on City &amp; Property</a:t>
            </a:r>
          </a:p>
          <a:p>
            <a:r>
              <a:rPr lang="en-US" sz="2000" dirty="0"/>
              <a:t>Cancellation rate is uniform &amp; independent of all variables</a:t>
            </a:r>
          </a:p>
          <a:p>
            <a:endParaRPr lang="en-US" sz="2000" dirty="0"/>
          </a:p>
          <a:p>
            <a:r>
              <a:rPr lang="en-US" sz="2000" dirty="0"/>
              <a:t>Thus we need to focus on Revenue, Occupancy &amp; Ratings against City &amp; Property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F01B31-93CC-40AD-95AE-6EED50B78B5C}"/>
              </a:ext>
            </a:extLst>
          </p:cNvPr>
          <p:cNvSpPr txBox="1">
            <a:spLocks/>
          </p:cNvSpPr>
          <p:nvPr/>
        </p:nvSpPr>
        <p:spPr>
          <a:xfrm>
            <a:off x="660967" y="1156578"/>
            <a:ext cx="4980824" cy="856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0033"/>
                </a:solidFill>
              </a:rPr>
              <a:t>Dependency Matrix</a:t>
            </a:r>
          </a:p>
        </p:txBody>
      </p:sp>
    </p:spTree>
    <p:extLst>
      <p:ext uri="{BB962C8B-B14F-4D97-AF65-F5344CB8AC3E}">
        <p14:creationId xmlns:p14="http://schemas.microsoft.com/office/powerpoint/2010/main" val="294638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511A-29DA-426C-976C-FDC30165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66FF"/>
                </a:solidFill>
              </a:rPr>
              <a:t>  Analysis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5F3783-038D-4F55-9301-4CC98A4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There is a direct correlation between Avg Rating, Occupancy % &amp; Revenue</a:t>
            </a:r>
          </a:p>
          <a:p>
            <a:r>
              <a:rPr lang="en-US" sz="2000" dirty="0"/>
              <a:t>Thus, if </a:t>
            </a:r>
            <a:r>
              <a:rPr lang="en-US" sz="2000" dirty="0" err="1"/>
              <a:t>Atliq</a:t>
            </a:r>
            <a:r>
              <a:rPr lang="en-US" sz="2000" dirty="0"/>
              <a:t> improves its Customer Service, then Occupancy &amp; Revenue will increase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4BCD37-A75E-4819-ABC1-74C3FEAA2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776" y="871180"/>
            <a:ext cx="4934639" cy="51156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C62D05D-A928-4631-A046-12CA2C4462C1}"/>
              </a:ext>
            </a:extLst>
          </p:cNvPr>
          <p:cNvSpPr txBox="1">
            <a:spLocks/>
          </p:cNvSpPr>
          <p:nvPr/>
        </p:nvSpPr>
        <p:spPr>
          <a:xfrm>
            <a:off x="660967" y="1156578"/>
            <a:ext cx="4980824" cy="856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0033"/>
                </a:solidFill>
              </a:rPr>
              <a:t>Rating, Occupancy &amp; Revenue</a:t>
            </a:r>
          </a:p>
        </p:txBody>
      </p:sp>
    </p:spTree>
    <p:extLst>
      <p:ext uri="{BB962C8B-B14F-4D97-AF65-F5344CB8AC3E}">
        <p14:creationId xmlns:p14="http://schemas.microsoft.com/office/powerpoint/2010/main" val="205966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511A-29DA-426C-976C-FDC30165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66FF"/>
                </a:solidFill>
              </a:rPr>
              <a:t>  Analysis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5F3783-038D-4F55-9301-4CC98A4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575322"/>
            <a:ext cx="10964594" cy="2747952"/>
          </a:xfrm>
        </p:spPr>
        <p:txBody>
          <a:bodyPr>
            <a:noAutofit/>
          </a:bodyPr>
          <a:lstStyle/>
          <a:p>
            <a:r>
              <a:rPr lang="en-US" sz="1800" dirty="0" err="1"/>
              <a:t>Atliq</a:t>
            </a:r>
            <a:r>
              <a:rPr lang="en-US" sz="1800" dirty="0"/>
              <a:t> Exotica is the best performing property with the highest Revenue 0.32 B &amp; rating of 3.62</a:t>
            </a:r>
          </a:p>
          <a:p>
            <a:r>
              <a:rPr lang="en-US" sz="1800" dirty="0"/>
              <a:t>Although amongst </a:t>
            </a:r>
            <a:r>
              <a:rPr lang="en-US" sz="1800" dirty="0" err="1"/>
              <a:t>Exoticas</a:t>
            </a:r>
            <a:r>
              <a:rPr lang="en-US" sz="1800" dirty="0"/>
              <a:t>, </a:t>
            </a:r>
            <a:r>
              <a:rPr lang="en-US" sz="1800" dirty="0" err="1"/>
              <a:t>Atliq</a:t>
            </a:r>
            <a:r>
              <a:rPr lang="en-US" sz="1800" dirty="0"/>
              <a:t> Exotica Hyderabad is not performing well on par with other cities with occupancy of 45% &amp; rating 2.33</a:t>
            </a:r>
          </a:p>
          <a:p>
            <a:r>
              <a:rPr lang="en-US" sz="1800" dirty="0"/>
              <a:t>But as far as customer satisfaction is concerned, </a:t>
            </a:r>
            <a:r>
              <a:rPr lang="en-US" sz="1800" dirty="0" err="1"/>
              <a:t>Atliq</a:t>
            </a:r>
            <a:r>
              <a:rPr lang="en-US" sz="1800" dirty="0"/>
              <a:t> Blu is the best property with Highest Occupancy of 62% &amp; Highest Average Rating 3.96</a:t>
            </a:r>
          </a:p>
          <a:p>
            <a:r>
              <a:rPr lang="en-US" sz="1800" dirty="0" err="1"/>
              <a:t>Atliq</a:t>
            </a:r>
            <a:r>
              <a:rPr lang="en-US" sz="1800" dirty="0"/>
              <a:t> Seasons is the worst performing property with the lowest Revenue of 0.06 B (though it is only in Mumbai) with the lowest occupancy (44%) &amp; lowest average rating of 2.29</a:t>
            </a:r>
          </a:p>
          <a:p>
            <a:r>
              <a:rPr lang="en-US" sz="1800" dirty="0" err="1"/>
              <a:t>Atliq</a:t>
            </a:r>
            <a:r>
              <a:rPr lang="en-US" sz="1800" dirty="0"/>
              <a:t> needs a different strategy for </a:t>
            </a:r>
            <a:r>
              <a:rPr lang="en-US" sz="1800" dirty="0" err="1"/>
              <a:t>Atliq</a:t>
            </a:r>
            <a:r>
              <a:rPr lang="en-US" sz="1800" dirty="0"/>
              <a:t> Seasons &amp; </a:t>
            </a:r>
            <a:r>
              <a:rPr lang="en-US" sz="1800" dirty="0" err="1"/>
              <a:t>Atliq</a:t>
            </a:r>
            <a:r>
              <a:rPr lang="en-US" sz="1800" dirty="0"/>
              <a:t> Exotica Hyderabad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C0488-A672-439B-B495-045497331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67661"/>
            <a:ext cx="10145541" cy="239110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6F0D649-C5ED-4A27-949D-5882E26FF742}"/>
              </a:ext>
            </a:extLst>
          </p:cNvPr>
          <p:cNvSpPr txBox="1">
            <a:spLocks/>
          </p:cNvSpPr>
          <p:nvPr/>
        </p:nvSpPr>
        <p:spPr>
          <a:xfrm>
            <a:off x="739726" y="873470"/>
            <a:ext cx="4980824" cy="856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0033"/>
                </a:solidFill>
              </a:rPr>
              <a:t>Metrics</a:t>
            </a:r>
          </a:p>
        </p:txBody>
      </p:sp>
    </p:spTree>
    <p:extLst>
      <p:ext uri="{BB962C8B-B14F-4D97-AF65-F5344CB8AC3E}">
        <p14:creationId xmlns:p14="http://schemas.microsoft.com/office/powerpoint/2010/main" val="66331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511A-29DA-426C-976C-FDC30165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66FF"/>
                </a:solidFill>
              </a:rPr>
              <a:t>  Analysis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5F3783-038D-4F55-9301-4CC98A4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Average Ratings vs Number of guests comparison shows a surprise deviation in graph for 5 guest bookings</a:t>
            </a:r>
          </a:p>
          <a:p>
            <a:r>
              <a:rPr lang="en-US" sz="2000" dirty="0" err="1"/>
              <a:t>Atliq</a:t>
            </a:r>
            <a:r>
              <a:rPr lang="en-US" sz="2000" dirty="0"/>
              <a:t> needs to investigate why bookings with 5 No. guests shows a sudden fall in ratings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16DE70-5ED2-4C66-B2B6-611B1E8F5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689" y="1343818"/>
            <a:ext cx="3553321" cy="370574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1DB155-59D9-462E-9719-80D12C922B64}"/>
              </a:ext>
            </a:extLst>
          </p:cNvPr>
          <p:cNvSpPr txBox="1">
            <a:spLocks/>
          </p:cNvSpPr>
          <p:nvPr/>
        </p:nvSpPr>
        <p:spPr>
          <a:xfrm>
            <a:off x="660967" y="1156578"/>
            <a:ext cx="4980824" cy="856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660033"/>
                </a:solidFill>
              </a:rPr>
              <a:t>Surprising trend</a:t>
            </a:r>
          </a:p>
        </p:txBody>
      </p:sp>
    </p:spTree>
    <p:extLst>
      <p:ext uri="{BB962C8B-B14F-4D97-AF65-F5344CB8AC3E}">
        <p14:creationId xmlns:p14="http://schemas.microsoft.com/office/powerpoint/2010/main" val="384878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511A-29DA-426C-976C-FDC30165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66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F2AB-A5A6-4777-BE1A-C2A272FE5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Atliq</a:t>
            </a:r>
            <a:r>
              <a:rPr lang="en-US" dirty="0"/>
              <a:t> needs to focus on increasing the Customer Satisfaction to improve its business</a:t>
            </a:r>
          </a:p>
          <a:p>
            <a:r>
              <a:rPr lang="en-US" dirty="0"/>
              <a:t>The critical hotels as far as customer satisfaction is concerned, are </a:t>
            </a:r>
            <a:r>
              <a:rPr lang="en-US" dirty="0" err="1"/>
              <a:t>Atliq</a:t>
            </a:r>
            <a:r>
              <a:rPr lang="en-US" dirty="0"/>
              <a:t> Seasons &amp; </a:t>
            </a:r>
            <a:r>
              <a:rPr lang="en-US" dirty="0" err="1"/>
              <a:t>Atliq</a:t>
            </a:r>
            <a:r>
              <a:rPr lang="en-US" dirty="0"/>
              <a:t> Exotica Hyderabad</a:t>
            </a:r>
          </a:p>
          <a:p>
            <a:r>
              <a:rPr lang="en-US" dirty="0" err="1"/>
              <a:t>Atliq</a:t>
            </a:r>
            <a:r>
              <a:rPr lang="en-US" dirty="0"/>
              <a:t> needs to investigate 5 No. guests booking</a:t>
            </a:r>
          </a:p>
        </p:txBody>
      </p:sp>
    </p:spTree>
    <p:extLst>
      <p:ext uri="{BB962C8B-B14F-4D97-AF65-F5344CB8AC3E}">
        <p14:creationId xmlns:p14="http://schemas.microsoft.com/office/powerpoint/2010/main" val="545202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511A-29DA-426C-976C-FDC30165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66FF"/>
                </a:solidFill>
              </a:rPr>
              <a:t>  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DF2AB-A5A6-4777-BE1A-C2A272FE5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There is a data cleaning process involved in file </a:t>
            </a:r>
            <a:r>
              <a:rPr lang="en-US" sz="2000" dirty="0" err="1"/>
              <a:t>dim_hotels</a:t>
            </a:r>
            <a:r>
              <a:rPr lang="en-US" sz="2000" dirty="0"/>
              <a:t>. City for the property no. 16559 is wrongly mentioned as Mumbai, since first 2 digits represent the city &amp; 16 represents Delhi as its city.</a:t>
            </a:r>
          </a:p>
          <a:p>
            <a:r>
              <a:rPr lang="en-US" sz="2000" dirty="0"/>
              <a:t>Occupancy is assumed for the </a:t>
            </a:r>
            <a:r>
              <a:rPr lang="en-US" sz="2000" dirty="0" err="1"/>
              <a:t>check_in</a:t>
            </a:r>
            <a:r>
              <a:rPr lang="en-US" sz="2000" dirty="0"/>
              <a:t> day or the first day only, because there are many cases in the data where for a room on a particular day occupancy is 100%, but the checked in guests from previous days are still present in the room theoretically.</a:t>
            </a:r>
          </a:p>
          <a:p>
            <a:r>
              <a:rPr lang="en-US" sz="2000" dirty="0"/>
              <a:t>Revenue is considered for 1 day of stay only</a:t>
            </a:r>
          </a:p>
        </p:txBody>
      </p:sp>
    </p:spTree>
    <p:extLst>
      <p:ext uri="{BB962C8B-B14F-4D97-AF65-F5344CB8AC3E}">
        <p14:creationId xmlns:p14="http://schemas.microsoft.com/office/powerpoint/2010/main" val="2805207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F9093-CD2F-44F4-8461-0276E4780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0708" y="1333305"/>
            <a:ext cx="4562622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66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11361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474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ATLIQ HOSPITALITY ANALYSIS</vt:lpstr>
      <vt:lpstr>Table of Contents</vt:lpstr>
      <vt:lpstr>  Objective</vt:lpstr>
      <vt:lpstr>  Dashboard</vt:lpstr>
      <vt:lpstr>   Analysis</vt:lpstr>
      <vt:lpstr>  Analysis</vt:lpstr>
      <vt:lpstr>  Analysis</vt:lpstr>
      <vt:lpstr>  Analysis</vt:lpstr>
      <vt:lpstr>Conclusion</vt:lpstr>
      <vt:lpstr>  Appendix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ATLIQ HOSPITALITY CHALLENGE</dc:title>
  <dc:creator>Ashish Yadav</dc:creator>
  <cp:lastModifiedBy>Amit Kumar</cp:lastModifiedBy>
  <cp:revision>22</cp:revision>
  <dcterms:created xsi:type="dcterms:W3CDTF">2022-09-29T15:32:24Z</dcterms:created>
  <dcterms:modified xsi:type="dcterms:W3CDTF">2026-10-05T12:25:56Z</dcterms:modified>
</cp:coreProperties>
</file>